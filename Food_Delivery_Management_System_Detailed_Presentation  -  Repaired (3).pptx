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458200" y="1097280"/>
            <a:ext cx="2514600" cy="2514600"/>
          </a:xfrm>
          <a:prstGeom prst="roundRect">
            <a:avLst>
              <a:gd name="adj" fmla="val 12000"/>
            </a:avLst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78240" y="1417320"/>
            <a:ext cx="1874519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070848" y="1709928"/>
            <a:ext cx="1280160" cy="1280160"/>
          </a:xfrm>
          <a:prstGeom prst="roundRect">
            <a:avLst>
              <a:gd name="adj" fmla="val 12000"/>
            </a:avLst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0" y="4251960"/>
            <a:ext cx="256032" cy="256032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72600" y="4709160"/>
            <a:ext cx="256032" cy="256032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44200" y="4069080"/>
            <a:ext cx="256032" cy="256032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55279" y="4343400"/>
            <a:ext cx="1417320" cy="64008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82912" y="4343400"/>
            <a:ext cx="1097280" cy="64008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0080"/>
            <a:ext cx="68580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A64D"/>
                </a:solidFill>
                <a:latin typeface="Aptos"/>
              </a:defRPr>
            </a:pPr>
            <a:r>
              <a:t>DATABASE MANAGEMENT SYSTEM  •  MINI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1" y="1375650"/>
            <a:ext cx="694944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FOOD DELIVERY</a:t>
            </a:r>
          </a:p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39"/>
            <a:ext cx="658368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DCE8F4"/>
                </a:solidFill>
                <a:latin typeface="Aptos"/>
              </a:defRPr>
            </a:pPr>
            <a:r>
              <a:rPr dirty="0"/>
              <a:t>A structured SQL database to manage customers, restaurants, menus, orders, payments and deliveries.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23818"/>
            <a:ext cx="6309360" cy="2294102"/>
          </a:xfrm>
          <a:prstGeom prst="roundRect">
            <a:avLst>
              <a:gd name="adj" fmla="val 12000"/>
            </a:avLst>
          </a:prstGeom>
          <a:solidFill>
            <a:srgbClr val="1C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5943600" cy="15583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sz="1500" dirty="0"/>
              <a:t>PREPARED BY :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sz="1500" dirty="0"/>
              <a:t>1.CHAVADA  MALAYARAJ   12502080601017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sz="1500" dirty="0"/>
              <a:t>2.ABDULLAH BANDI            12502080601012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sz="1500" dirty="0"/>
              <a:t>3. RAMANI ARYAN                 12502080601001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lang="en-IN" sz="1500" dirty="0"/>
              <a:t>CLASS/BATCH  : IT-1 / 3</a:t>
            </a:r>
            <a:r>
              <a:rPr lang="en-IN" sz="1500" baseline="30000" dirty="0"/>
              <a:t>RD</a:t>
            </a:r>
            <a:r>
              <a:rPr lang="en-IN" sz="1500" dirty="0"/>
              <a:t> SEM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28232"/>
            <a:ext cx="64008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FFA64D"/>
                </a:solidFill>
                <a:latin typeface="Aptos"/>
              </a:defRPr>
            </a:pPr>
            <a:r>
              <a:t>2026–2027  | 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87552"/>
            <a:ext cx="109728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2223D"/>
                </a:solidFill>
                <a:latin typeface="Aptos"/>
              </a:defRPr>
            </a:pPr>
            <a:r>
              <a:t>One workflow. Connected records. Clear operational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82296" cy="150876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810512"/>
            <a:ext cx="228600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2286000" cy="914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Profiles, contact details and delivery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9164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691640"/>
            <a:ext cx="82296" cy="150876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810512"/>
            <a:ext cx="228600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RESTAURANTS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94560"/>
            <a:ext cx="2286000" cy="914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Restaurant profiles and menu availability.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9164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82296" cy="1508760"/>
          </a:xfrm>
          <a:prstGeom prst="rect">
            <a:avLst/>
          </a:prstGeom>
          <a:solidFill>
            <a:srgbClr val="28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810512"/>
            <a:ext cx="228600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2286000" cy="914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Order header, items, quantities and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5603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82296" cy="1508760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19" y="1810512"/>
            <a:ext cx="2240279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194560"/>
            <a:ext cx="2240279" cy="914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Payment records, partner assignment and status.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10927080" cy="1965960"/>
          </a:xfrm>
          <a:prstGeom prst="roundRect">
            <a:avLst>
              <a:gd name="adj" fmla="val 12000"/>
            </a:avLst>
          </a:prstGeom>
          <a:solidFill>
            <a:srgbClr val="D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950208"/>
            <a:ext cx="103327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A499"/>
                </a:solidFill>
                <a:latin typeface="Aptos"/>
              </a:defRPr>
            </a:pPr>
            <a:r>
              <a:t>PROJECT 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0149840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2223D"/>
                </a:solidFill>
                <a:latin typeface="Aptos"/>
              </a:defRPr>
            </a:pPr>
            <a:r>
              <a:t>Design and demonstrate a relational database that keeps food-order information consistent and answers common questions with SQL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3035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82296" cy="1965960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216152"/>
            <a:ext cx="498348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D"/>
                </a:solidFill>
                <a:latin typeface="Aptos"/>
              </a:defRPr>
            </a:pPr>
            <a:r>
              <a:t>CURRENT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600200"/>
            <a:ext cx="498348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Repeated customer and restaurant information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Manual billing and avoidable calculation errors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Difficult order-status tracking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Menu availability may be out of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3035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82296" cy="196596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216152"/>
            <a:ext cx="498348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D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98348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Store data in related tables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Reduce duplication with normalized design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Enforce relationships using keys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Calculate totals and summarize order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10515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SUCCESS CRITERIA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25146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502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0A49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51960"/>
            <a:ext cx="16459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23D"/>
                </a:solidFill>
                <a:latin typeface="Aptos"/>
              </a:defRPr>
            </a:pPr>
            <a:r>
              <a:t>Accurate order totals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4160520"/>
            <a:ext cx="25146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03320" y="4297680"/>
            <a:ext cx="502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0A49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251960"/>
            <a:ext cx="16459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23D"/>
                </a:solidFill>
                <a:latin typeface="Aptos"/>
              </a:defRPr>
            </a:pPr>
            <a:r>
              <a:t>Reliable customer/order joins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60520"/>
            <a:ext cx="25146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297680"/>
            <a:ext cx="502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0A49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251960"/>
            <a:ext cx="16459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23D"/>
                </a:solidFill>
                <a:latin typeface="Aptos"/>
              </a:defRPr>
            </a:pPr>
            <a:r>
              <a:t>Valid relationships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160520"/>
            <a:ext cx="25146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4297680"/>
            <a:ext cx="502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0A49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4251960"/>
            <a:ext cx="16459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23D"/>
                </a:solidFill>
                <a:latin typeface="Aptos"/>
              </a:defRPr>
            </a:pPr>
            <a:r>
              <a:t>Useful operational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Scope, Users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097280"/>
          <a:ext cx="6400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User / Module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 responsibility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Choose menu items; place and review orders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Restaurant staff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Maintain menu and update preparation status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Admin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Manage records and review reports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Delivery partner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Receive assignment and update delivery progress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Database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Store related records and return query results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097280"/>
            <a:ext cx="41605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0" y="1097280"/>
            <a:ext cx="82296" cy="196596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1216152"/>
            <a:ext cx="384048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00200"/>
            <a:ext cx="384048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Schema, sample data, joins, totals, status updates and test cases.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337560"/>
            <a:ext cx="41605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0" y="3337560"/>
            <a:ext cx="82296" cy="196596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3456432"/>
            <a:ext cx="384048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840480"/>
            <a:ext cx="384048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Live GPS, real payment gateway, notifications and full web/mobile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084831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16152" y="1783080"/>
            <a:ext cx="640080" cy="640080"/>
          </a:xfrm>
          <a:prstGeom prst="ellipse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6152" y="1901952"/>
            <a:ext cx="6400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06040"/>
            <a:ext cx="175564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017520"/>
            <a:ext cx="1755648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t>Customer browses restaurants and available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514600"/>
            <a:ext cx="3200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00A4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554480"/>
            <a:ext cx="2084831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75304" y="1783080"/>
            <a:ext cx="640080" cy="640080"/>
          </a:xfrm>
          <a:prstGeom prst="ellipse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75304" y="1901952"/>
            <a:ext cx="6400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606040"/>
            <a:ext cx="175564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017520"/>
            <a:ext cx="1755648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t>Order header and order-item rows are recorded.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514600"/>
            <a:ext cx="3200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00A4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1224" y="1554480"/>
            <a:ext cx="2084831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34456" y="1783080"/>
            <a:ext cx="640080" cy="640080"/>
          </a:xfrm>
          <a:prstGeom prst="ellipse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34456" y="1901952"/>
            <a:ext cx="6400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606040"/>
            <a:ext cx="175564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3017520"/>
            <a:ext cx="1755648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t>Quantity × unit price is summed into an order total.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2514600"/>
            <a:ext cx="3200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00A4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0376" y="1554480"/>
            <a:ext cx="2084831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93608" y="1783080"/>
            <a:ext cx="640080" cy="640080"/>
          </a:xfrm>
          <a:prstGeom prst="ellipse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3608" y="1901952"/>
            <a:ext cx="6400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2606040"/>
            <a:ext cx="175564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3017520"/>
            <a:ext cx="1755648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t>Payment amount, method and status are stored.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514600"/>
            <a:ext cx="3200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00A49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9528" y="1554480"/>
            <a:ext cx="2084831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652760" y="1783080"/>
            <a:ext cx="640080" cy="640080"/>
          </a:xfrm>
          <a:prstGeom prst="ellipse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60" y="1901952"/>
            <a:ext cx="6400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606040"/>
            <a:ext cx="175564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DELIVER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3017520"/>
            <a:ext cx="1755648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r>
              <a:t>Partner is assigned and delivery status is updated.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709160"/>
            <a:ext cx="10652760" cy="777240"/>
          </a:xfrm>
          <a:prstGeom prst="roundRect">
            <a:avLst>
              <a:gd name="adj" fmla="val 12000"/>
            </a:avLst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4892040"/>
            <a:ext cx="101498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Order status example: Placed  →  Preparing  →  Out for Delivery  →  Delivered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097280"/>
            <a:ext cx="850392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28800" y="1097280"/>
            <a:ext cx="2377440" cy="804672"/>
          </a:xfrm>
          <a:prstGeom prst="roundRect">
            <a:avLst>
              <a:gd name="adj" fmla="val 12000"/>
            </a:avLst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1280160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271016"/>
            <a:ext cx="562356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33041"/>
                </a:solidFill>
                <a:latin typeface="Aptos"/>
              </a:defRPr>
            </a:pPr>
            <a:r>
              <a:t>Customer / Admin / Restaurant / Delivery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65376"/>
            <a:ext cx="10972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A49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240280"/>
            <a:ext cx="850392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828800" y="2240280"/>
            <a:ext cx="2377440" cy="804672"/>
          </a:xfrm>
          <a:prstGeom prst="roundRect">
            <a:avLst>
              <a:gd name="adj" fmla="val 12000"/>
            </a:avLst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2423160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APPLICATION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14016"/>
            <a:ext cx="562356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33041"/>
                </a:solidFill>
                <a:latin typeface="Aptos"/>
              </a:defRPr>
            </a:pPr>
            <a:r>
              <a:t>Input validation • pricing rules • status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008376"/>
            <a:ext cx="10972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A49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383280"/>
            <a:ext cx="850392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28800" y="3383280"/>
            <a:ext cx="2377440" cy="804672"/>
          </a:xfrm>
          <a:prstGeom prst="roundRect">
            <a:avLst>
              <a:gd name="adj" fmla="val 12000"/>
            </a:avLst>
          </a:prstGeom>
          <a:solidFill>
            <a:srgbClr val="28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65960" y="3566160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DATABASE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557016"/>
            <a:ext cx="562356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33041"/>
                </a:solidFill>
                <a:latin typeface="Aptos"/>
              </a:defRPr>
            </a:pPr>
            <a:r>
              <a:t>MySQL tables • primary keys • foreign keys • SQL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151376"/>
            <a:ext cx="10972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A49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526280"/>
            <a:ext cx="850392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828800" y="4526280"/>
            <a:ext cx="2377440" cy="804672"/>
          </a:xfrm>
          <a:prstGeom prst="roundRect">
            <a:avLst>
              <a:gd name="adj" fmla="val 12000"/>
            </a:avLst>
          </a:prstGeom>
          <a:solidFill>
            <a:srgbClr val="1C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65960" y="4709160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700016"/>
            <a:ext cx="562356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33041"/>
                </a:solidFill>
                <a:latin typeface="Aptos"/>
              </a:defRPr>
            </a:pPr>
            <a:r>
              <a:t>Order details • totals • available menu • status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806440"/>
            <a:ext cx="8412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606F82"/>
                </a:solidFill>
                <a:latin typeface="Aptos"/>
              </a:defRPr>
            </a:pPr>
            <a:r>
              <a:t>This presentation implements the database layer; a UI can be added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ER Model: Entities &amp;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755648"/>
            <a:ext cx="777240" cy="0"/>
          </a:xfrm>
          <a:prstGeom prst="line">
            <a:avLst/>
          </a:prstGeom>
          <a:ln w="25400">
            <a:solidFill>
              <a:srgbClr val="00A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212080" y="1755648"/>
            <a:ext cx="777240" cy="0"/>
          </a:xfrm>
          <a:prstGeom prst="line">
            <a:avLst/>
          </a:prstGeom>
          <a:ln w="25400">
            <a:solidFill>
              <a:srgbClr val="00A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55279" y="1755648"/>
            <a:ext cx="777241" cy="0"/>
          </a:xfrm>
          <a:prstGeom prst="line">
            <a:avLst/>
          </a:prstGeom>
          <a:ln w="25400">
            <a:solidFill>
              <a:srgbClr val="00A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24528" y="2194560"/>
            <a:ext cx="0" cy="1600200"/>
          </a:xfrm>
          <a:prstGeom prst="line">
            <a:avLst/>
          </a:prstGeom>
          <a:ln w="25400">
            <a:solidFill>
              <a:srgbClr val="00A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12080" y="4251960"/>
            <a:ext cx="777240" cy="0"/>
          </a:xfrm>
          <a:prstGeom prst="line">
            <a:avLst/>
          </a:prstGeom>
          <a:ln w="25400">
            <a:solidFill>
              <a:srgbClr val="00A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67728" y="2194560"/>
            <a:ext cx="0" cy="1600200"/>
          </a:xfrm>
          <a:prstGeom prst="line">
            <a:avLst/>
          </a:prstGeom>
          <a:ln w="25400">
            <a:solidFill>
              <a:srgbClr val="00A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966960" y="2194560"/>
            <a:ext cx="0" cy="1600200"/>
          </a:xfrm>
          <a:prstGeom prst="line">
            <a:avLst/>
          </a:prstGeom>
          <a:ln w="25400">
            <a:solidFill>
              <a:srgbClr val="00A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68880" y="4251960"/>
            <a:ext cx="777240" cy="0"/>
          </a:xfrm>
          <a:prstGeom prst="line">
            <a:avLst/>
          </a:prstGeom>
          <a:ln w="25400">
            <a:solidFill>
              <a:srgbClr val="00A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132588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132588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" y="1357884"/>
            <a:ext cx="1819656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673352"/>
            <a:ext cx="1783080" cy="4846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PK customer_id</a:t>
            </a:r>
          </a:p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full_name, phone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132588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46120" y="132588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9272" y="1357884"/>
            <a:ext cx="1819656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1673352"/>
            <a:ext cx="1783080" cy="4846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PK order_id</a:t>
            </a:r>
          </a:p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FK customer_id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32588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89320" y="132588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62472" y="1357884"/>
            <a:ext cx="1819656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Restaurants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1673352"/>
            <a:ext cx="1783080" cy="4846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PK restaurant_id</a:t>
            </a:r>
          </a:p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restaurant_name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1325880"/>
            <a:ext cx="26060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732520" y="1325880"/>
            <a:ext cx="2606040" cy="292608"/>
          </a:xfrm>
          <a:prstGeom prst="roundRect">
            <a:avLst>
              <a:gd name="adj" fmla="val 12000"/>
            </a:avLst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05672" y="1357884"/>
            <a:ext cx="2459736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MenuItems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1673352"/>
            <a:ext cx="2423160" cy="4846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PK item_id • FK restaurant_id</a:t>
            </a:r>
          </a:p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item_name, price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7947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246120" y="379476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1C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19272" y="3826764"/>
            <a:ext cx="1819656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OrderItems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142232"/>
            <a:ext cx="17830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PK order_item_id</a:t>
            </a:r>
          </a:p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FK order_id, item_id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37947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989320" y="379476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1C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62472" y="3826764"/>
            <a:ext cx="1819656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Payments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59" y="4142232"/>
            <a:ext cx="17830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PK payment_id • FK order_id</a:t>
            </a:r>
          </a:p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amount, status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32520" y="379476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32520" y="3794760"/>
            <a:ext cx="2606040" cy="292608"/>
          </a:xfrm>
          <a:prstGeom prst="roundRect">
            <a:avLst>
              <a:gd name="adj" fmla="val 12000"/>
            </a:avLst>
          </a:prstGeom>
          <a:solidFill>
            <a:srgbClr val="1C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05672" y="3826764"/>
            <a:ext cx="2459736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Deliveries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4142232"/>
            <a:ext cx="2423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PK delivery_id • FK order_id</a:t>
            </a:r>
          </a:p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FK partner_id, status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7947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2920" y="379476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1C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6072" y="3826764"/>
            <a:ext cx="1819656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DeliveryPartners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4142232"/>
            <a:ext cx="17830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PK partner_id</a:t>
            </a:r>
          </a:p>
          <a:p>
            <a:pPr algn="ctr">
              <a:spcAft>
                <a:spcPts val="500"/>
              </a:spcAft>
              <a:defRPr sz="900" b="0">
                <a:solidFill>
                  <a:srgbClr val="233041"/>
                </a:solidFill>
                <a:latin typeface="Aptos"/>
              </a:defRPr>
            </a:pPr>
            <a:r>
              <a:t>partner_name, phone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16636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2223D"/>
                </a:solidFill>
                <a:latin typeface="Aptos"/>
              </a:defRPr>
            </a:pPr>
            <a:r>
              <a:t>1:M relationships are enforced by foreign keys. Orders connect to OrderItems, Payments and Deliveries.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Database Design: Tables &amp;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0584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Primary key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Foreign key(s)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fields / purpose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Customers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customer_id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full_name, phone, address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Restaurants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restaurant_id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restaurant_name, area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MenuItems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item_id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restaurant_id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item_name, price, is_available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order_id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customer_id, restaurant_id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order_date, status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OrderItems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order_item_id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order_id, item_id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quantity, unit_price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Payments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payment_id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order_id (unique)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amount, method, payment_status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DeliveryPartners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partner_id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partner_name, phone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Deliveries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delivery_id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order_id (unique), partner_id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delivery_status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Database Normalization &amp;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82296" cy="1874519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261872"/>
            <a:ext cx="3154679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SEPARATE ENTITIES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645920"/>
            <a:ext cx="3154679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Customer details are stored once in Customers, not repeated in every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82296" cy="1874519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261872"/>
            <a:ext cx="3154679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ORDER LINE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154679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OrderItems supports multiple items per order and keeps quantities separate.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43000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143000"/>
            <a:ext cx="82296" cy="1874519"/>
          </a:xfrm>
          <a:prstGeom prst="rect">
            <a:avLst/>
          </a:prstGeom>
          <a:solidFill>
            <a:srgbClr val="28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261872"/>
            <a:ext cx="3154679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PRICE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154679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41"/>
                </a:solidFill>
                <a:latin typeface="Aptos"/>
              </a:defRPr>
            </a:pPr>
            <a:r>
              <a:t>unit_price stores the price at order time, even if the menu price changes later.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20440"/>
            <a:ext cx="106070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INTEGRITY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t>•  Primary keys uniquely identify each row.</a:t>
            </a:r>
          </a:p>
          <a:p>
            <a:pPr>
              <a:spcAft>
                <a:spcPts val="7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t>•  Foreign keys prevent references to missing customers, menu items or orders.</a:t>
            </a:r>
          </a:p>
          <a:p>
            <a:pPr>
              <a:spcAft>
                <a:spcPts val="7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t>•  NOT NULL protects required fields; UNIQUE prevents duplicate phone / payment references.</a:t>
            </a:r>
          </a:p>
          <a:p>
            <a:pPr>
              <a:spcAft>
                <a:spcPts val="7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t>•  CHECK constraints can enforce non-negative prices and positive quantities.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SQL Implementation: Create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06F82"/>
                </a:solidFill>
                <a:latin typeface="Aptos"/>
              </a:defRPr>
            </a:pPr>
            <a:r>
              <a:t>MySQL schema excerpt — create parent tables before dependent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53312"/>
            <a:ext cx="6492240" cy="4526280"/>
          </a:xfrm>
          <a:prstGeom prst="roundRect">
            <a:avLst>
              <a:gd name="adj" fmla="val 12000"/>
            </a:avLst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463040"/>
            <a:ext cx="6199631" cy="43068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CREATE DATABASE food_delivery_db;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USE food_delivery_db;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CREATE TABLE Customers (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customer_id INT PRIMARY KEY,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full_name VARCHAR(80) NOT NULL,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phone VARCHAR(15) UNIQUE,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address VARCHAR(200)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CREATE TABLE Restaurants (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restaurant_id INT PRIMARY KEY,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restaurant_name VARCHAR(100) NOT NULL,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area VARCHAR(80)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CREATE TABLE MenuItems (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item_id INT PRIMARY KEY,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restaurant_id INT NOT NULL,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item_name VARCHAR(100) NOT NULL,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price DECIMAL(10,2) NOT NULL CHECK (price &gt;= 0),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is_available BOOLEAN DEFAULT TRUE,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FOREIGN KEY (restaurant_id)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  REFERENCES Restaurants(restaurant_id)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371600"/>
            <a:ext cx="41148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60920" y="1371600"/>
            <a:ext cx="82296" cy="123444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1490472"/>
            <a:ext cx="379476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WHY THESE TYPES?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874519"/>
            <a:ext cx="37947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DECIMAL is suitable for currency; VARCHAR stores text; BOOLEAN stores availability.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880360"/>
            <a:ext cx="41148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60920" y="2880360"/>
            <a:ext cx="82296" cy="123444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2999232"/>
            <a:ext cx="379476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WHY FOREIGN KEYS?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383280"/>
            <a:ext cx="37947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They keep MenuItems connected to a valid restaurant.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4389120"/>
            <a:ext cx="41148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60920" y="4389120"/>
            <a:ext cx="82296" cy="1234440"/>
          </a:xfrm>
          <a:prstGeom prst="rect">
            <a:avLst/>
          </a:prstGeom>
          <a:solidFill>
            <a:srgbClr val="28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4507992"/>
            <a:ext cx="379476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IMPLEMENTATION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892040"/>
            <a:ext cx="37947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The full schema also creates Orders, OrderItems, Payments, DeliveryPartners and Deliveries.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Sample Data: What the Database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097280"/>
          <a:ext cx="5394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Customers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Name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Aarav Patel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Navrangpura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Diya Shah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Satellite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097280"/>
          <a:ext cx="5349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Menu item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Restaurant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Price (₹)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Paneer Wrap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Spice Garden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160.00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Masala Fries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Spice Garden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90.00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Veg Rice Bowl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Green Bowl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180.00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342900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Order ID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Item details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Calculated total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5001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Aarav Patel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2 × Paneer Wrap + 1 × Masala Fries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Delivered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₹410.00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5002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Diya Shah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1 × Veg Rice Bowl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Preparing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₹180.00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623560"/>
            <a:ext cx="106070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06F82"/>
                </a:solidFill>
                <a:latin typeface="Aptos"/>
              </a:defRPr>
            </a:pPr>
            <a:r>
              <a:t>Sample records are fictional and included only to demonstrate the SQL queries.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SQL Implementation: Insert Sample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6583680" cy="4937760"/>
          </a:xfrm>
          <a:prstGeom prst="roundRect">
            <a:avLst>
              <a:gd name="adj" fmla="val 12000"/>
            </a:avLst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207007"/>
            <a:ext cx="6291072" cy="4718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INSERT INTO Customers VALUES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(1, 'Aarav Patel', '9876500001', 'Navrangpura'),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(2, 'Diya Shah', '9876500002', 'Satellite');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INSERT INTO Restaurants VALUES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(1, 'Spice Garden', 'Navrangpura'),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(2, 'Green Bowl', 'Satellite');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INSERT INTO MenuItems VALUES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(101, 1, 'Paneer Wrap', 160.00, TRUE),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(102, 1, 'Masala Fries', 90.00, TRUE),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(201, 2, 'Veg Rice Bowl', 180.00, TRUE);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INSERT INTO Orders VALUES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(5001, 1, 1, '2026-10-15 12:15:00', 'Delivered'),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(5002, 2, 2, '2026-10-15 12:40:00', 'Preparing');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25880"/>
            <a:ext cx="40233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6640" y="1325880"/>
            <a:ext cx="82296" cy="137160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1444752"/>
            <a:ext cx="370332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INSERT ORDER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1828800"/>
            <a:ext cx="370332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Insert parent rows first, then rows that reference them through foreign keys.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971800"/>
            <a:ext cx="40233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2971800"/>
            <a:ext cx="82296" cy="137160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19" y="3090672"/>
            <a:ext cx="370332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MORE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474720"/>
            <a:ext cx="370332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The report includes inserts for OrderItems, Payments, DeliveryPartners and Deliveries.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617720"/>
            <a:ext cx="4023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06640" y="4617720"/>
            <a:ext cx="82296" cy="1097280"/>
          </a:xfrm>
          <a:prstGeom prst="rect">
            <a:avLst/>
          </a:prstGeom>
          <a:solidFill>
            <a:srgbClr val="28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19" y="4736592"/>
            <a:ext cx="370332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23D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5120640"/>
            <a:ext cx="3703320" cy="5029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Use SELECT * FROM table_name; to inspect inserted records.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SQL Query 1: Orders with Customer &amp;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6537960" cy="2423160"/>
          </a:xfrm>
          <a:prstGeom prst="roundRect">
            <a:avLst>
              <a:gd name="adj" fmla="val 12000"/>
            </a:avLst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252728"/>
            <a:ext cx="6245352" cy="22037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SELECT o.order_id, c.full_name,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       r.restaurant_name, o.status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FROM Orders o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JOIN Customers c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  ON o.customer_id = c.customer_id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JOIN Restaurants r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  ON o.restaurant_id = r.restaurant_id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ORDER BY o.order_id;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325880"/>
            <a:ext cx="3931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A499"/>
                </a:solidFill>
                <a:latin typeface="Aptos"/>
              </a:defRPr>
            </a:pPr>
            <a:r>
              <a:t>EXPECTED OUTPUT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60920" y="1783080"/>
          <a:ext cx="42519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8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order_id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full_name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5001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Aarav Patel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Delivered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5002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Diya Shah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Preparing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4160520"/>
            <a:ext cx="10698480" cy="1143000"/>
          </a:xfrm>
          <a:prstGeom prst="roundRect">
            <a:avLst>
              <a:gd name="adj" fmla="val 12000"/>
            </a:avLst>
          </a:prstGeom>
          <a:solidFill>
            <a:srgbClr val="D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407408"/>
            <a:ext cx="1024128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D"/>
                </a:solidFill>
                <a:latin typeface="Aptos"/>
              </a:defRPr>
            </a:pPr>
            <a:r>
              <a:t>JOIN combines related rows using matching key values. This result is easier to read than storing all details in one oversized 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SQL Query 2: Calculate Order Totals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6629400" cy="2514600"/>
          </a:xfrm>
          <a:prstGeom prst="roundRect">
            <a:avLst>
              <a:gd name="adj" fmla="val 12000"/>
            </a:avLst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252728"/>
            <a:ext cx="6336792" cy="22951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1F1F7"/>
                </a:solidFill>
                <a:latin typeface="Consolas"/>
              </a:defRPr>
            </a:pPr>
            <a:r>
              <a:t>SELECT order_id,</a:t>
            </a:r>
          </a:p>
          <a:p>
            <a:pPr>
              <a:spcAft>
                <a:spcPts val="500"/>
              </a:spcAft>
              <a:defRPr sz="1400" b="0">
                <a:solidFill>
                  <a:srgbClr val="E1F1F7"/>
                </a:solidFill>
                <a:latin typeface="Consolas"/>
              </a:defRPr>
            </a:pPr>
            <a:r>
              <a:t>       SUM(quantity * unit_price) AS order_total</a:t>
            </a:r>
          </a:p>
          <a:p>
            <a:pPr>
              <a:spcAft>
                <a:spcPts val="500"/>
              </a:spcAft>
              <a:defRPr sz="1400" b="0">
                <a:solidFill>
                  <a:srgbClr val="E1F1F7"/>
                </a:solidFill>
                <a:latin typeface="Consolas"/>
              </a:defRPr>
            </a:pPr>
            <a:r>
              <a:t>FROM OrderItems</a:t>
            </a:r>
          </a:p>
          <a:p>
            <a:pPr>
              <a:spcAft>
                <a:spcPts val="500"/>
              </a:spcAft>
              <a:defRPr sz="1400" b="0">
                <a:solidFill>
                  <a:srgbClr val="E1F1F7"/>
                </a:solidFill>
                <a:latin typeface="Consolas"/>
              </a:defRPr>
            </a:pPr>
            <a:r>
              <a:t>GROUP BY order_id</a:t>
            </a:r>
          </a:p>
          <a:p>
            <a:pPr>
              <a:spcAft>
                <a:spcPts val="500"/>
              </a:spcAft>
              <a:defRPr sz="1400" b="0">
                <a:solidFill>
                  <a:srgbClr val="E1F1F7"/>
                </a:solidFill>
                <a:latin typeface="Consolas"/>
              </a:defRPr>
            </a:pPr>
            <a:r>
              <a:t>ORDER BY order_id;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88720"/>
            <a:ext cx="3886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79" y="1188720"/>
            <a:ext cx="82296" cy="100584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59" y="1307592"/>
            <a:ext cx="356616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D"/>
                </a:solidFill>
                <a:latin typeface="Aptos"/>
              </a:defRPr>
            </a:pPr>
            <a:r>
              <a:t>ORDER 5001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691640"/>
            <a:ext cx="35661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(2 × ₹160) + (1 × ₹90) = ₹410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468880"/>
            <a:ext cx="3886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8079" y="2468880"/>
            <a:ext cx="82296" cy="100584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59" y="2587752"/>
            <a:ext cx="356616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D"/>
                </a:solidFill>
                <a:latin typeface="Aptos"/>
              </a:defRPr>
            </a:pPr>
            <a:r>
              <a:t>ORDER 5002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971800"/>
            <a:ext cx="35661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(1 × ₹180) = ₹180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188720" y="4069080"/>
          <a:ext cx="97840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order_id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order_total (₹)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5001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410.00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5002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180.00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97280" y="5715000"/>
            <a:ext cx="100584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606F82"/>
                </a:solidFill>
                <a:latin typeface="Aptos"/>
              </a:defRPr>
            </a:pPr>
            <a:r>
              <a:t>SUM() aggregates line-item values; GROUP BY produces one total per order.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SQL Queries 3 &amp; 4: Menu and Order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54406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097280"/>
            <a:ext cx="82296" cy="50292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16152"/>
            <a:ext cx="5120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D"/>
                </a:solidFill>
                <a:latin typeface="Aptos"/>
              </a:defRPr>
            </a:pPr>
            <a:r>
              <a:t>QUERY 3 — AVAILABLE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12064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5440680" cy="2148840"/>
          </a:xfrm>
          <a:prstGeom prst="roundRect">
            <a:avLst>
              <a:gd name="adj" fmla="val 12000"/>
            </a:avLst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1801368"/>
            <a:ext cx="5148072" cy="1929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SELECT r.restaurant_name,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     m.item_name, m.price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FROM MenuItems m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JOIN Restaurants r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  ON m.restaurant_id = r.restaurant_id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WHERE m.is_available = TRUE;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097280"/>
            <a:ext cx="53492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097280"/>
            <a:ext cx="82296" cy="50292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216152"/>
            <a:ext cx="502920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D"/>
                </a:solidFill>
                <a:latin typeface="Aptos"/>
              </a:defRPr>
            </a:pPr>
            <a:r>
              <a:t>QUERY 4 — ORDERS BY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5029200" cy="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33041"/>
                </a:solidFill>
                <a:latin typeface="Aptos"/>
              </a:defRPr>
            </a:pPr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169164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1801368"/>
            <a:ext cx="5056631" cy="1929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SELECT status, COUNT(*) AS total_orders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FROM Orders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GROUP BY status</a:t>
            </a:r>
          </a:p>
          <a:p>
            <a:pPr>
              <a:spcAft>
                <a:spcPts val="500"/>
              </a:spcAft>
              <a:defRPr sz="1100" b="0">
                <a:solidFill>
                  <a:srgbClr val="E1F1F7"/>
                </a:solidFill>
                <a:latin typeface="Consolas"/>
              </a:defRPr>
            </a:pPr>
            <a:r>
              <a:t>ORDER BY status;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960120" y="4297680"/>
          <a:ext cx="47091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orders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Delivered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Preparing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0" y="4297680"/>
          <a:ext cx="47548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Restaurant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Item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Spice Garden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Paneer Wrap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Green Bowl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Veg Rice Bowl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SQL Query 5: Update an Order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760720" cy="2011680"/>
          </a:xfrm>
          <a:prstGeom prst="roundRect">
            <a:avLst>
              <a:gd name="adj" fmla="val 12000"/>
            </a:avLst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298448"/>
            <a:ext cx="5468112" cy="1792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UPDATE Orders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SET status = 'Out for Delivery'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WHERE order_id = 5002;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SELECT order_id, status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FROM Orders</a:t>
            </a:r>
          </a:p>
          <a:p>
            <a:pPr>
              <a:spcAft>
                <a:spcPts val="500"/>
              </a:spcAft>
              <a:defRPr sz="1300" b="0">
                <a:solidFill>
                  <a:srgbClr val="E1F1F7"/>
                </a:solidFill>
                <a:latin typeface="Consolas"/>
              </a:defRPr>
            </a:pPr>
            <a:r>
              <a:t>WHERE order_id = 5002;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25880"/>
            <a:ext cx="4480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572768"/>
            <a:ext cx="3931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A499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011680"/>
            <a:ext cx="38404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23D"/>
                </a:solidFill>
                <a:latin typeface="Aptos"/>
              </a:defRPr>
            </a:pPr>
            <a:r>
              <a:t>5002  |  Out for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4241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23D"/>
                </a:solidFill>
                <a:latin typeface="Aptos"/>
              </a:defRPr>
            </a:pPr>
            <a:r>
              <a:t>Best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10515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t>•  Use a WHERE clause so only the intended order changes.</a:t>
            </a:r>
          </a:p>
          <a:p>
            <a:pPr>
              <a:spcAft>
                <a:spcPts val="6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t>•  Update the delivery record as well when the delivery workflow requires it.</a:t>
            </a:r>
          </a:p>
          <a:p>
            <a:pPr>
              <a:spcAft>
                <a:spcPts val="600"/>
              </a:spcAft>
              <a:defRPr sz="1500">
                <a:solidFill>
                  <a:srgbClr val="233041"/>
                </a:solidFill>
                <a:latin typeface="Aptos"/>
              </a:defRPr>
            </a:pPr>
            <a:r>
              <a:t>•  Use a transaction when multiple related changes must succeed together.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case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64008" marR="45720" marT="32004" marB="32004" anchor="ctr">
                    <a:solidFill>
                      <a:srgbClr val="1222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Valid order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Insert order with existing customer and restaurant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Record is saved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Invalid foreign key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Use a customer_id that does not exist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Insert is rejected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Duplicate key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Reuse an existing order_id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Insert is rejected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Order total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Calculate quantity × unit_price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5001 = ₹410; 5002 = ₹180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Available menu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Filter is_available = TRUE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Only available items appear</a:t>
                      </a:r>
                    </a:p>
                  </a:txBody>
                  <a:tcPr marL="64008" marR="45720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Status update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Update order 5002 with WHERE clause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3041"/>
                          </a:solidFill>
                          <a:latin typeface="Aptos"/>
                        </a:defRPr>
                      </a:pPr>
                      <a:r>
                        <a:t>Only order 5002 changes</a:t>
                      </a:r>
                    </a:p>
                  </a:txBody>
                  <a:tcPr marL="64008" marR="45720" marT="32004" marB="32004" anchor="ctr">
                    <a:solidFill>
                      <a:srgbClr val="E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06F82"/>
                </a:solidFill>
                <a:latin typeface="Aptos"/>
              </a:defRPr>
            </a:pPr>
            <a:r>
              <a:t>Expected results are calculated from the included sample data; run SQL in MySQL to verify execution.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Security,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5204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82296" cy="338328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61872"/>
            <a:ext cx="320040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3200400" cy="2788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Parameterized queries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Role-based database access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Password hashing in the app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Protect personal information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Backups and audit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5204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82296" cy="338328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261872"/>
            <a:ext cx="320040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200400" cy="2788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No live GPS tracking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No real payment gateway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No customer-facing interface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No push notifications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Small demonstration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43000"/>
            <a:ext cx="352044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143000"/>
            <a:ext cx="82296" cy="3383280"/>
          </a:xfrm>
          <a:prstGeom prst="rect">
            <a:avLst/>
          </a:prstGeom>
          <a:solidFill>
            <a:srgbClr val="28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261872"/>
            <a:ext cx="320040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23D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645920"/>
            <a:ext cx="3200400" cy="2788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Web/mobile application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Payment gateway integration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Live delivery map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Ratings and coupons</a:t>
            </a:r>
          </a:p>
          <a:p>
            <a:pPr>
              <a:spcAft>
                <a:spcPts val="500"/>
              </a:spcAft>
              <a:defRPr sz="1400" b="0">
                <a:solidFill>
                  <a:srgbClr val="233041"/>
                </a:solidFill>
                <a:latin typeface="Aptos"/>
              </a:defRPr>
            </a:pPr>
            <a:r>
              <a:t>• Sales analytics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83480"/>
            <a:ext cx="10652760" cy="731520"/>
          </a:xfrm>
          <a:prstGeom prst="roundRect">
            <a:avLst>
              <a:gd name="adj" fmla="val 12000"/>
            </a:avLst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101498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The SQL database is the foundation; secure application logic completes the product.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Conclusion &amp;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2223D"/>
                </a:solidFill>
                <a:latin typeface="Aptos"/>
              </a:defRPr>
            </a:pPr>
            <a:r>
              <a:t>The project demonstrates how a relational database can support a food delivery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82296" cy="1097280"/>
          </a:xfrm>
          <a:prstGeom prst="rect">
            <a:avLst/>
          </a:prstGeom>
          <a:solidFill>
            <a:srgbClr val="0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D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846320" cy="5029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Separate tables and meaningful relationships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96596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59" y="1965960"/>
            <a:ext cx="82296" cy="1097280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84831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D"/>
                </a:solidFill>
                <a:latin typeface="Aptos"/>
              </a:defRPr>
            </a:pPr>
            <a:r>
              <a:t>SQL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846320" cy="5029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CREATE, INSERT, JOIN, SUM, GROUP BY and 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82296" cy="1097280"/>
          </a:xfrm>
          <a:prstGeom prst="rect">
            <a:avLst/>
          </a:prstGeom>
          <a:solidFill>
            <a:srgbClr val="288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50215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D"/>
                </a:solidFill>
                <a:latin typeface="Aptos"/>
              </a:defRPr>
            </a:pPr>
            <a:r>
              <a:t>DATA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846320" cy="5029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Primary keys, foreign keys and constraints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38328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59" y="3383280"/>
            <a:ext cx="82296" cy="1097280"/>
          </a:xfrm>
          <a:prstGeom prst="rect">
            <a:avLst/>
          </a:prstGeom>
          <a:solidFill>
            <a:srgbClr val="1C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50215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2223D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86200"/>
            <a:ext cx="4846320" cy="5029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3041"/>
                </a:solidFill>
                <a:latin typeface="Aptos"/>
              </a:defRPr>
            </a:pPr>
            <a:r>
              <a:t>Order details, totals, menu listings and status summaries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5166360"/>
            <a:ext cx="5486400" cy="822960"/>
          </a:xfrm>
          <a:prstGeom prst="roundRect">
            <a:avLst>
              <a:gd name="adj" fmla="val 12000"/>
            </a:avLst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5367528"/>
            <a:ext cx="50292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References &amp; Demonstration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46304"/>
            <a:ext cx="502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A64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06F82"/>
                </a:solidFill>
                <a:latin typeface="Aptos"/>
              </a:defRPr>
            </a:pPr>
            <a:r>
              <a:t>FOOD DELIVERY MANAGEMENT SYSTEM  | 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•  MySQL Reference Manual: https://dev.mysql.com/doc/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•  CREATE TABLE and constraints: https://dev.mysql.com/doc/refman/8.0/en/create-table.html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•  JOIN syntax: https://dev.mysql.com/doc/refman/8.0/en/join.html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•  Course notes: DBMS, ER modelling, normalization and SQL.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•  Demonstration steps: create database → create tables → insert sample data → run SELECT queries → update order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0515600" cy="594360"/>
          </a:xfrm>
          <a:prstGeom prst="roundRect">
            <a:avLst>
              <a:gd name="adj" fmla="val 12000"/>
            </a:avLst>
          </a:prstGeom>
          <a:solidFill>
            <a:srgbClr val="D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669280"/>
            <a:ext cx="101498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2223D"/>
                </a:solidFill>
                <a:latin typeface="Aptos"/>
              </a:defRPr>
            </a:pPr>
            <a:r>
              <a:t>Note: Query output shown in this presentation is expected output, not a database screenshot.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2176</Words>
  <Application>Microsoft Office PowerPoint</Application>
  <PresentationFormat>Widescreen</PresentationFormat>
  <Paragraphs>437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Malayraj</dc:creator>
  <cp:keywords/>
  <dc:description>generated using python-pptx</dc:description>
  <cp:lastModifiedBy>Doniyo Doniyo</cp:lastModifiedBy>
  <cp:revision>3</cp:revision>
  <dcterms:created xsi:type="dcterms:W3CDTF">2013-01-27T09:14:16Z</dcterms:created>
  <dcterms:modified xsi:type="dcterms:W3CDTF">2026-10-23T06:16:24Z</dcterms:modified>
  <cp:category/>
</cp:coreProperties>
</file>